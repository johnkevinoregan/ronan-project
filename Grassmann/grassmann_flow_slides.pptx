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Grassmann Flow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C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Attention-Free Alternative for Sequence Modeling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3291840"/>
            <a:ext cx="2286000" cy="36576"/>
          </a:xfrm>
          <a:prstGeom prst="rect">
            <a:avLst/>
          </a:prstGeom>
          <a:solidFill>
            <a:srgbClr val="00CED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566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on: Zhang Chong, arXiv:2512.19428 (Dec 2025)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645920"/>
            <a:ext cx="1645920" cy="1645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L×L attention matrices with geometric flows on manifolds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4F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Problem: Self-Attention as Tensor Lifting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716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Self-Attention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HWq,  K = HWk,  V = HWv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331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Attention = softmax(QKᵀ / √d) · V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2788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 L × L matrix of pairwise interactions between every token pair—this is the "tensor lifting".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977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O(L²d)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663440" y="118872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716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417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Problematic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46320" y="196596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High-Dimensional Tensor Space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 of freedom explode with L² scaling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Mathematically Non-Traceable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small family of invariants describes global behavior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Dynamics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attention maps are visible, but aggregating across heads/layers resists analysis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4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1828800"/>
          </a:xfrm>
          <a:prstGeom prst="rect">
            <a:avLst/>
          </a:prstGeom>
          <a:solidFill>
            <a:srgbClr val="0A3A4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we fundamentally need is not attention itself, but a </a:t>
            </a:r>
            <a:pPr algn="ctr" indent="0" marL="0">
              <a:buNone/>
            </a:pPr>
            <a:r>
              <a:rPr lang="en-US" sz="2200" b="1" i="1" dirty="0">
                <a:solidFill>
                  <a:srgbClr val="00CE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sufficiently expressive geometric evolution mechanism</a:t>
            </a:r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hidden representations."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2377440" cy="1463040"/>
          </a:xfrm>
          <a:prstGeom prst="rect">
            <a:avLst/>
          </a:prstGeom>
          <a:solidFill>
            <a:srgbClr val="14919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33832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9319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 of Freedom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83280" y="3200400"/>
            <a:ext cx="2377440" cy="1463040"/>
          </a:xfrm>
          <a:prstGeom prst="rect">
            <a:avLst/>
          </a:prstGeom>
          <a:solidFill>
            <a:srgbClr val="14919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33832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74720" y="39319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Algebraic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035040" y="3200400"/>
            <a:ext cx="2377440" cy="1463040"/>
          </a:xfrm>
          <a:prstGeom prst="rect">
            <a:avLst/>
          </a:prstGeom>
          <a:solidFill>
            <a:srgbClr val="14919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338328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26480" y="39319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Amenable 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Analysis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F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Grassmann Manifolds &amp; Plücker Coordinates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Grassmann Manifold Gr(k, r)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 of all </a:t>
            </a:r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k-dimensional linear subspaces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ℝʳ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Dimension: k(r − k)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paper: k = 2 (2D subspaces)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Plücker Embedding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16916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vectors u, v ∈ ℝʳ spanning a 2D subspace: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pᵢⱼ = uᵢvⱼ − uⱼvᵢ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vector p ∈ ℝ^(ʳ₂) = ℝ^(r(r-1)/2)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8229600" cy="1463040"/>
          </a:xfrm>
          <a:prstGeom prst="rect">
            <a:avLst/>
          </a:prstGeom>
          <a:solidFill>
            <a:srgbClr val="E8F6F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429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Grassmann for Sequence Modeling?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linear structure: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Naturally captures tangent spaces and local directions in semantic manifold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Finite-dimensional: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feature vectors (unlike L×L attention)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Algebraic constraints: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on objects with clear geometric meaning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F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Causal Grassmann Mixing Layer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5544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51560" y="1143000"/>
            <a:ext cx="365760" cy="365760"/>
          </a:xfrm>
          <a:prstGeom prst="ellipse">
            <a:avLst/>
          </a:prstGeom>
          <a:solidFill>
            <a:srgbClr val="14919B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170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30352" y="1600200"/>
            <a:ext cx="1408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Reduction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2057400"/>
            <a:ext cx="14081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hₜ ∈ ℝᵈ → zₜ ∈ ℝʳ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 ≪ d, e.g., 32)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29968" y="2194560"/>
            <a:ext cx="73152" cy="0"/>
          </a:xfrm>
          <a:prstGeom prst="line">
            <a:avLst/>
          </a:prstGeom>
          <a:noFill/>
          <a:ln w="25400">
            <a:solidFill>
              <a:srgbClr val="14919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21408" y="1005840"/>
            <a:ext cx="15544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15768" y="1143000"/>
            <a:ext cx="365760" cy="365760"/>
          </a:xfrm>
          <a:prstGeom prst="ellipse">
            <a:avLst/>
          </a:prstGeom>
          <a:solidFill>
            <a:srgbClr val="14919B"/>
          </a:solidFill>
          <a:ln/>
        </p:spPr>
      </p:sp>
      <p:sp>
        <p:nvSpPr>
          <p:cNvPr id="11" name="Text 9"/>
          <p:cNvSpPr/>
          <p:nvPr/>
        </p:nvSpPr>
        <p:spPr>
          <a:xfrm>
            <a:off x="2715768" y="1170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94560" y="1600200"/>
            <a:ext cx="1408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Multi-Scale Pairing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94560" y="2057400"/>
            <a:ext cx="14081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 pairs (zₜ, zₜ₊Δ)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 ∈ {1,2,4,8,...}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94176" y="2194560"/>
            <a:ext cx="73152" cy="0"/>
          </a:xfrm>
          <a:prstGeom prst="line">
            <a:avLst/>
          </a:prstGeom>
          <a:noFill/>
          <a:ln w="25400">
            <a:solidFill>
              <a:srgbClr val="14919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85616" y="1005840"/>
            <a:ext cx="15544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79976" y="1143000"/>
            <a:ext cx="365760" cy="365760"/>
          </a:xfrm>
          <a:prstGeom prst="ellipse">
            <a:avLst/>
          </a:prstGeom>
          <a:solidFill>
            <a:srgbClr val="14919B"/>
          </a:solidFill>
          <a:ln/>
        </p:spPr>
      </p:sp>
      <p:sp>
        <p:nvSpPr>
          <p:cNvPr id="17" name="Text 15"/>
          <p:cNvSpPr/>
          <p:nvPr/>
        </p:nvSpPr>
        <p:spPr>
          <a:xfrm>
            <a:off x="4379976" y="1170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58768" y="1600200"/>
            <a:ext cx="1408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Plücker Encoding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58768" y="2057400"/>
            <a:ext cx="14081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 pᵢⱼ = zᵢzⱼ₊Δ − zⱼzᵢ₊Δ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 for stability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58384" y="2194560"/>
            <a:ext cx="73152" cy="0"/>
          </a:xfrm>
          <a:prstGeom prst="line">
            <a:avLst/>
          </a:prstGeom>
          <a:noFill/>
          <a:ln w="25400">
            <a:solidFill>
              <a:srgbClr val="14919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49824" y="1005840"/>
            <a:ext cx="15544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44184" y="1143000"/>
            <a:ext cx="365760" cy="365760"/>
          </a:xfrm>
          <a:prstGeom prst="ellipse">
            <a:avLst/>
          </a:prstGeom>
          <a:solidFill>
            <a:srgbClr val="14919B"/>
          </a:solidFill>
          <a:ln/>
        </p:spPr>
      </p:sp>
      <p:sp>
        <p:nvSpPr>
          <p:cNvPr id="23" name="Text 21"/>
          <p:cNvSpPr/>
          <p:nvPr/>
        </p:nvSpPr>
        <p:spPr>
          <a:xfrm>
            <a:off x="6044184" y="1170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22976" y="1600200"/>
            <a:ext cx="1408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22976" y="2057400"/>
            <a:ext cx="14081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 back to ℝᵈ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gₜ = Wₚₗᵤp̂ₜ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022592" y="2194560"/>
            <a:ext cx="73152" cy="0"/>
          </a:xfrm>
          <a:prstGeom prst="line">
            <a:avLst/>
          </a:prstGeom>
          <a:noFill/>
          <a:ln w="25400">
            <a:solidFill>
              <a:srgbClr val="14919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14032" y="1005840"/>
            <a:ext cx="15544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708392" y="1143000"/>
            <a:ext cx="365760" cy="365760"/>
          </a:xfrm>
          <a:prstGeom prst="ellipse">
            <a:avLst/>
          </a:prstGeom>
          <a:solidFill>
            <a:srgbClr val="14919B"/>
          </a:solidFill>
          <a:ln/>
        </p:spPr>
      </p:sp>
      <p:sp>
        <p:nvSpPr>
          <p:cNvPr id="29" name="Text 27"/>
          <p:cNvSpPr/>
          <p:nvPr/>
        </p:nvSpPr>
        <p:spPr>
          <a:xfrm>
            <a:off x="7708392" y="1170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87184" y="1600200"/>
            <a:ext cx="1408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Fusion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87184" y="2057400"/>
            <a:ext cx="14081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αₜ = σ(Wgate[hₜ; gₜ])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h̃ₜ = αₜ⊙hₜ + (1-αₜ)⊙gₜ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solidFill>
            <a:srgbClr val="0D4F5C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657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L×L Attention Matrix!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flows through controlled deformations of low-rank subspaces across layers and multi-scale local windows. The complexity is O(L·m·r²) — linear in sequence length L.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F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Complexity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solidFill>
            <a:srgbClr val="0D4F5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3504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Grassmann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76809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190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Interactions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0" y="17190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O(L²dhead)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0" y="17190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O(L·m·r²)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148840"/>
            <a:ext cx="7680960" cy="502920"/>
          </a:xfrm>
          <a:prstGeom prst="rect">
            <a:avLst/>
          </a:prstGeom>
          <a:solidFill>
            <a:srgbClr val="E8F6F7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2219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Projections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22219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O(Ld²)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35040" y="22219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O(Ld² + Ldr)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2651760"/>
            <a:ext cx="76809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7249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(per layer)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0" y="27249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O(L²)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35040" y="27249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O(L·m)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3154680"/>
            <a:ext cx="7680960" cy="502920"/>
          </a:xfrm>
          <a:prstGeom prst="rect">
            <a:avLst/>
          </a:prstGeom>
          <a:solidFill>
            <a:srgbClr val="E8F6F7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2278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Complexity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0" y="32278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O(L²d + Ld²)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35040" y="32278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O(Ld²)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3840480"/>
            <a:ext cx="7680960" cy="1005840"/>
          </a:xfrm>
          <a:prstGeom prst="rect">
            <a:avLst/>
          </a:prstGeom>
          <a:solidFill>
            <a:srgbClr val="E8F6F7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3977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fixed r (reduced dimension) and m (number of windows), Grassmann mixing scales </a:t>
            </a:r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linearly in L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Self-attention's quadratic L² term is the bottleneck for long sequences.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F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73152" cy="2468880"/>
          </a:xfrm>
          <a:prstGeom prst="rect">
            <a:avLst/>
          </a:prstGeom>
          <a:solidFill>
            <a:srgbClr val="14919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WikiText-2 Language Modeling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Perplexity (lower is better)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6-layer models (13M params):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Transformer: 248    Grassmann: 276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12-layer models (18M params):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Transformer: 235    Grassmann: 261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05840"/>
            <a:ext cx="73152" cy="24688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SNLI Natural Language Inference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417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Accuracy (higher is better)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7373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+ Classification Head: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head: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Val: 0.8545  Test: 0.8511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Grassmann head: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Val: 0.8550  Test: 0.8538  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solidFill>
            <a:srgbClr val="E8F6F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611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39776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GrassmannLM within 10-15% of Transformer baseline on language modeling (no attention!)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Grassmann head slightly outperforms Transformer head on SNLI classification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Gap narrows with increased depth — repeated local mixing approximates richer interactions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F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Interpretability: From Tensors to Manifolds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Attention: Opaque Tensors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L×L attention weights per head, per layer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Individual maps visualizable, but...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Global composition across all heads/layers resists analysis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small family of invariants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"The model's core lives in an extremely high-dimensional space"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63440" y="1051560"/>
            <a:ext cx="40233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0352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Grassmann: Structured Flow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846320" y="169164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Finite-dimensional manifold Gr(2,r)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Plücker vectors with fixed dimension C(r,2)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Explicit algebraic relations (Plücker relations)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Comparable across layers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Tools from differential &amp; algebraic geometry applicable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Track trajectory on manifold, not tensor cloud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solidFill>
            <a:srgbClr val="0D4F5C"/>
          </a:solidFill>
          <a:ln/>
        </p:spPr>
      </p:sp>
      <p:sp>
        <p:nvSpPr>
          <p:cNvPr id="12" name="Text 8"/>
          <p:cNvSpPr/>
          <p:nvPr/>
        </p:nvSpPr>
        <p:spPr>
          <a:xfrm>
            <a:off x="640080" y="42519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summarizing attention tensors, summarize trajectories on Gr(2,r)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F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Directions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73152" cy="1371600"/>
          </a:xfrm>
          <a:prstGeom prst="rect">
            <a:avLst/>
          </a:prstGeom>
          <a:solidFill>
            <a:srgbClr val="14919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Invariants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Sequence-level statistics of Grassmann flow: averaged subspaces, curvature measures, cross-layer stability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1005840"/>
            <a:ext cx="73152" cy="1371600"/>
          </a:xfrm>
          <a:prstGeom prst="rect">
            <a:avLst/>
          </a:prstGeom>
          <a:solidFill>
            <a:srgbClr val="14919B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Higher-Dimensional Gr(k,r)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15087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beyond k=2 subspaces; explore richer Grassmann structures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560320"/>
            <a:ext cx="73152" cy="1371600"/>
          </a:xfrm>
          <a:prstGeom prst="rect">
            <a:avLst/>
          </a:prstGeom>
          <a:solidFill>
            <a:srgbClr val="14919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Architectures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30632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with SSMs, kernelized attention, or convolutional modules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56032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560320"/>
            <a:ext cx="73152" cy="1371600"/>
          </a:xfrm>
          <a:prstGeom prst="rect">
            <a:avLst/>
          </a:prstGeom>
          <a:solidFill>
            <a:srgbClr val="14919B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&amp; Engineering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92040" y="30632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GPU kernels, optimized Plücker operations, test at larger scales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E8F6F7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315968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Related: Efficient Transformers (sparse/linear attention), State-Space Models, Geometric Representation Learning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4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00"/>
          </a:xfrm>
          <a:prstGeom prst="rect">
            <a:avLst/>
          </a:prstGeom>
          <a:solidFill>
            <a:srgbClr val="0A3A4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Self-attention is not indispensable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Competitive performance possible without any L×L attention matrix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Grassmann flows provide structured alternative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Finite-dimensional, algebraically constrained, geometrically meaningful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Linear complexity in sequence length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O(Ld²) vs O(L²d) — scales better for long sequences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Path toward interpretability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Operations on tractable manifolds rather than opaque tensors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14919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8862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we fundamentally need is not attention itself, but a principled way for representations to move on the manifolds they inhabit."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Grassmann Flow: Attention-Free Sequence Modeling</dc:title>
  <dc:subject>PptxGenJS Presentation</dc:subject>
  <dc:creator>Based on Zhang Chong (2025)</dc:creator>
  <cp:lastModifiedBy>Based on Zhang Chong (2025)</cp:lastModifiedBy>
  <cp:revision>1</cp:revision>
  <dcterms:created xsi:type="dcterms:W3CDTF">2026-02-21T15:59:18Z</dcterms:created>
  <dcterms:modified xsi:type="dcterms:W3CDTF">2026-02-21T15:59:18Z</dcterms:modified>
</cp:coreProperties>
</file>